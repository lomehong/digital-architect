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封面。开宗明义：这不是一个新概念项目，是踩着已上线基础设施与已跑通骨架的规模化立项。三个价值标签（可理解/可推理/可验证）呼应 digital-architect README 首行的愿景一句话。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决策者只看一页的话就是这页。四象限：做什么、要什么、给什么、什么时候。要什么已收敛到最小试点盘子（2-3 人 × 3 个月，8-15 仓）——这是"验证方法论"的最小可交付规模。特别注意"给什么"里的双重回报——这是本立项区别于普通知识工程项目的战略杠杆：即使是小规模试点，两份回报都能同时兑现。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四部分：先讲为什么现在做（背景+同一个洞的洞察），再讲为什么能做（已有基础+双重回报），然后是具体方案与首期试点，最后是资源与决策请求。全程约 20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本页是全篇最关键的洞察。业务侧看到的痛点（AI 读不懂代码）与安全侧看到的痛点（御符无法 enforce）看似无关，实则同一个洞——都缺一份权威的、AI 可读的、接口级的工程事实源。这个洞察决定了本项目"一次投入两份回报"的战略杠杆。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本页把上一页的"同一个洞"翻译成立项语言：一次投入产出两份回报。明线（业务价值）说服业务侧决策者，暗线（基础设施价值）说服安全侧决策者。这是混合受众叙事的核心结构。特别强调暗线第 3 条——authz.mode: shadow → enforce 的关键前置，这是御符从"设计完整"迈向"执行完整"的临界动作。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本页降低决策者的风险感。三层证据：三平面基础设施已上线（不需要重建）；digital-architect 阶段 1-4 已跑通（不需要重造）；observatory 三期完成（多实例治理面板已有雏形）。底部金句是本立项的关键定位：申请的是扩规模的运营资源，不是从零建设的研发资源。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技术方案一张图。左侧多个架构师 Agent 实例按业务域拆分（避免上帝 Agent），中间御驿 Hub 承载协同通信、observatory 集中治理，右侧输出两个产物：公司级知识仓库（明线）与御符接口清单同步（暗线）。底部五条机制是已跑通的纪律，扩规模不改。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三栏并列：试点域怎么选、验收标准是什么、明确不做什么。首期规模从原 15-30 仓收敛到 8-15 仓（半个业务域），是资源压缩到 2-3 人 × 3 个月后的最小可验证规模。特别强调 N4 不做向量库/RAG（方法论立场）与 N6 首期不追求试点域全覆盖（明示范围收敛）。A5 shadow→enforce 切换收窄到 1-2 个接口组，降低首次切换风险。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三段里程碑，每段一个月，每段有明确验收。资源压缩后节奏更紧，但每段范围也相应收敛：M1 只做启动准备（选仓 + 部署实例），M2 集中做知识蒸馏（核心工作量），M3 三合一交付（御符同步 + 首期验收 + 扩展 SOP）。M3 是双重回报首次同时落地的关键节点，也是决策者最关心的"两份回报是不是真的都能拿到"的验证点。M2 结束若发现进度偏差，可决策延期或再收敛范围（见风险 R7）。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资源需求分人力与基础设施两块。人力压缩到 2-3 FTE：项目负责人 1（方法论 owner + 决策门运营，全程投入）、平台/知识工程师 1-2（复合角色，因为人少所以一人多能）、御符接口人 0.5 兼职。基础设施主要是 Hub 扩容与 observatory 独立部署，其他都可复用现有。关键前提卡片是本页最重要的一行——三平面、architect-core、observatory Model B 都已就绪，本项目不新增基础设施投入，所以 2-3 人 3 个月的最小盘子能撬动双重回报。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三层回报按时间维度区分：业务侧与安全侧首期 3 个月即可交付（决策者最关心"我批了这 2-3 人三个月能拿回什么"），战略侧在滚动扩展中逐步兑现。业务侧数字（30% / 40%）基于自举首跑观测，是保守估计。战略侧第 4 条"AI Friendly 架构转型的第一个支点"是最高层的价值定位。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七项风险按影响等级用色标区分：高（红）· 中（金）· 低（绿）。R3 御符接口清单质量、R6 shadow→enforce 切换失败、R7 3 个月工期紧张是三项高风险，但缓解路径都把它们锁在试点域内——R3 靠 CI 强制守结构 + 双向核对；R6 靠域内 1-2 个接口组切换 + denial_id 兜底 + 可回退；R7 靠范围已收敛到 8-15 仓（原计划一半）+ 按月密集验收 + M2 末可决策延期或再收敛。这就是"最小试点"策略的风险收敛价值。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滚动扩展路径时间线（资源压缩后整体前移）：首期（本次申请，Q4 2026-Q1 2027，3 个月）→ 第二期（Q2 2027）→ 第三期（Q3 2027）→ 全域覆盖（Q4 2027-Q1 2028）→ 御符全公司 enforce（Q2 2028）。9-12 个月覆盖 200+ 仓，每期资源增量小（2-3 人 × 3 月），因为方法论已定型、平台已就绪。三个关键决策点明示"本报告只申请首期资源"——这是降低决策门槛的关键。御符 enforce 全公司切换需安全侧联合决策，本项目只提供事实源。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决策请求页要具体、可执行、有时间窗。左侧五项请求（人力 2-3 FTE × 3 月、试点域选择权、基础设施预算、联合开发授权、LLM token 预算）是决策者要签字的具体条目。右上时间窗明示决策节奏（T+2 周决策 → T+3 周启动 → T+3 月首期验收）。右下"批准后 3 周第一步"是关键——让决策者看到"批了之后马上能动"，不是"批了就束之高阁"。底部金句把请求从"一个项目"抬升到"公司转型的第一个支点"。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结尾回到愿景一句话，三个平面各自的角色收束全篇：御符拿到接口级事实源（暗线回报）、御驿承载多实例协同（已有能力）、御衡治理每一次蒸馏（已有能力）。最后一行"恳请批准"是明确的行动号召。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20000" y="1000000"/>
            <a:ext cx="107532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立项报告 · Project Proposal</a:t>
            </a:r>
            <a:endParaRPr sz="16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1600000"/>
            <a:ext cx="10753200" cy="12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公司级</a:t>
            </a:r>
            <a:r>
              <a:rPr lang="en-US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AIAgent</a:t>
            </a:r>
            <a:r>
              <a:rPr lang="zh-CN" altLang="en-US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治理试点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150190"/>
            <a:ext cx="10753200" cy="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架构师 Agent 规模化项目 · 首期试点</a:t>
            </a:r>
            <a:endParaRPr sz="28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0000" y="4200000"/>
            <a:ext cx="2400000" cy="560000"/>
          </a:xfrm>
          <a:prstGeom prst="roundRect">
            <a:avLst>
              <a:gd name="adj" fmla="val 30000"/>
            </a:avLst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0000" y="4200000"/>
            <a:ext cx="2400000" cy="5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可理解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20000" y="4200000"/>
            <a:ext cx="2400000" cy="56000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20000" y="4200000"/>
            <a:ext cx="2400000" cy="5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可推理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20000" y="4200000"/>
            <a:ext cx="2400000" cy="560000"/>
          </a:xfrm>
          <a:prstGeom prst="roundRect">
            <a:avLst>
              <a:gd name="adj" fmla="val 3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0000" y="4200000"/>
            <a:ext cx="2400000" cy="5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可验证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000" y="5800000"/>
            <a:ext cx="1075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基于已上线的三平面基础设施（御符 · 御衡 · 御驿）与已跑通的架构师 Agent 骨架</a:t>
            </a:r>
            <a:endParaRPr sz="13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6200000"/>
            <a:ext cx="1075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申请单位：</a:t>
            </a:r>
            <a:r>
              <a:rPr lang="zh-CN"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总裁办</a:t>
            </a:r>
            <a:r>
              <a:rPr lang="en-US" altLang="zh-CN"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信息安全部</a:t>
            </a:r>
            <a:r>
              <a:rPr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   ·   提交日期：2026 年 9 月</a:t>
            </a:r>
            <a:endParaRPr sz="12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一页看懂：做什么、要什么、给什么、什么时候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0000" y="1440000"/>
            <a:ext cx="5418000" cy="216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100000" cy="216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0000" y="1640000"/>
            <a:ext cx="20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做什么</a:t>
            </a:r>
            <a:endParaRPr sz="22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0000" y="2160000"/>
            <a:ext cx="20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WHAT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000" y="2560000"/>
            <a:ext cx="4858000" cy="9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让多个架构师 Agent 实例并行分析公司代码仓库，蒸馏为公司级结构化知识仓库（五类目录 + architect_lint CI）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58000" y="1440000"/>
            <a:ext cx="5418000" cy="216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58000" y="1440000"/>
            <a:ext cx="100000" cy="216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8000" y="1640000"/>
            <a:ext cx="20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要什么</a:t>
            </a:r>
            <a:endParaRPr sz="2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8000" y="2160000"/>
            <a:ext cx="20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ASK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8000" y="2560000"/>
            <a:ext cx="4858000" cy="9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首期试点：2-3 人 × 3 个月，选定一个业务域内 8-15 个仓，基础设施与云主机预算按最小试点盘子核算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0000" y="3800000"/>
            <a:ext cx="5418000" cy="216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0000" y="3800000"/>
            <a:ext cx="100000" cy="216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0000" y="4000000"/>
            <a:ext cx="20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给什么</a:t>
            </a:r>
            <a:endParaRPr sz="22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0000" y="4520000"/>
            <a:ext cx="20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RETURN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0000" y="4920000"/>
            <a:ext cx="4858000" cy="9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双重回报：① 首个公司级 AI 可读工程知识库样板  ② 御符接口级事实源（shadow→enforce 切换的关键前置）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8000" y="3800000"/>
            <a:ext cx="5418000" cy="216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58000" y="3800000"/>
            <a:ext cx="100000" cy="216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8000" y="4000000"/>
            <a:ext cx="20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什么时候</a:t>
            </a:r>
            <a:endParaRPr sz="2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38000" y="4520000"/>
            <a:ext cx="20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WHEN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8000" y="4920000"/>
            <a:ext cx="4858000" cy="9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本季度批准 → Q4 2026 启动 M1 → Q1 2027 首期验收 → 通过后启动滚动扩展（9-12 个月覆盖 200+ 仓）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0000" y="62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一次投入、两份回报、季度滚动、可随时收敛——这是本次立项的核心结构。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议程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00000" y="1512000"/>
            <a:ext cx="504000" cy="504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28000" y="1472000"/>
            <a:ext cx="93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8000" y="1852000"/>
            <a:ext cx="936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AI 不可读代码仓库 × 御符无法 enforce —— 两个问题是同一个洞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00000" y="2592000"/>
            <a:ext cx="504000" cy="504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28000" y="2552000"/>
            <a:ext cx="93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战略机会与已有基础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28000" y="2932000"/>
            <a:ext cx="936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一次投入两份回报 · 三平面已上线 · 架构师 Agent 阶段 1-4 已跑通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00000" y="3672000"/>
            <a:ext cx="504000" cy="504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28000" y="3632000"/>
            <a:ext cx="93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项目方案与首期试点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28000" y="4012000"/>
            <a:ext cx="936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多实例架构师 Agent 编排 · 3 个月三段里程碑 · 首期验收标准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00000" y="4752000"/>
            <a:ext cx="504000" cy="504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28000" y="4712000"/>
            <a:ext cx="93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资源、收益与决策请求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28000" y="5092000"/>
            <a:ext cx="936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2-3 人 × 3 个月 · 三层回报 · 滚动扩展路径 · 具体决策请求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1872000"/>
            <a:ext cx="2880000" cy="194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0" b="1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1000" b="1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0000" y="2592000"/>
            <a:ext cx="7200000" cy="936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6000" y="3600000"/>
            <a:ext cx="7900000" cy="50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AI 不可读代码仓库 × 御符无法 enforce —— 两个问题是同一个洞</a:t>
            </a:r>
            <a:endParaRPr sz="18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两个问题是同一个洞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背景 · 公司当前面对的两个各自独立、但根因相同的挑战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5418000" cy="39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5418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0000" y="1940000"/>
            <a:ext cx="4938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问题 A · AI 不可读代码仓库</a:t>
            </a:r>
            <a:endParaRPr sz="20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000" y="25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业务视角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000" y="290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公司现状</a:t>
            </a:r>
            <a:endParaRPr sz="11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40000" y="288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200+ 代码仓库，各团队各自维护，无统一知识层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000" y="356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AI 典型错误</a:t>
            </a:r>
            <a:endParaRPr sz="11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40000" y="354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「局部正确、整体错误」——关键知识（历史包袱 / 兼容原因 / 隐性约束）不在代码里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000" y="422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行业现状</a:t>
            </a:r>
            <a:endParaRPr sz="11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0000" y="420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业界三路线均偏单服务内部；跨复杂多系统的工业实践是空白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0000" y="488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业务后果</a:t>
            </a:r>
            <a:endParaRPr sz="11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40000" y="486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架构评审靠人肉记忆、新人上手周期长、跨域协作沟通成本高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58000" y="1700000"/>
            <a:ext cx="5418000" cy="39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58000" y="1700000"/>
            <a:ext cx="5418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8000" y="1940000"/>
            <a:ext cx="4938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问题 B · 御符无法 enforce</a:t>
            </a:r>
            <a:endParaRPr sz="2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98000" y="25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安全视角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8000" y="290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当前状态</a:t>
            </a:r>
            <a:endParaRPr sz="11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58000" y="288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authz.mode = shadow，只记录不拦截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8000" y="356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权限模型</a:t>
            </a:r>
            <a:endParaRPr sz="11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58000" y="354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system_code + resource + action 三元组，靠人工登记 mcp_tool_registry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8000" y="422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关键卡点</a:t>
            </a:r>
            <a:endParaRPr sz="11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8000" y="420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D5 授权上界未生效（rol 硬编码 admin），*/* 通配可洗白权限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8000" y="4880000"/>
            <a:ext cx="12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根因</a:t>
            </a:r>
            <a:endParaRPr sz="11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58000" y="4860000"/>
            <a:ext cx="36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缺接口级事实源——不知道每个系统有哪些接口、每个接口做什么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0000" y="5800000"/>
            <a:ext cx="11113200" cy="5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两个问题看起来不相关，根因却是同一个洞——公司没有一份权威的、AI 可读的、接口级的工程事实源。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战略机会：一次投入，两份回报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把两个原本要分别立项的事情，绑到同一份申请书里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11113200" cy="1300000"/>
          </a:xfrm>
          <a:prstGeom prst="roundRect">
            <a:avLst>
              <a:gd name="adj" fmla="val 6000"/>
            </a:avLst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0000" y="1880000"/>
            <a:ext cx="20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投入</a:t>
            </a:r>
            <a:endParaRPr sz="1300" b="1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2200000"/>
            <a:ext cx="107532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架构师 Agent 深入公司代码仓库，产出五类结构化知识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0000" y="2660000"/>
            <a:ext cx="1075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meta（业务元语）· principle（跨场景原则）· scenario（场景映射）· practice（决策教训）· reference（跨域契约）</a:t>
            </a:r>
            <a:endParaRPr sz="12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0000" y="3200000"/>
            <a:ext cx="5418000" cy="27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0000" y="3200000"/>
            <a:ext cx="5418000" cy="10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0000" y="3400000"/>
            <a:ext cx="30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回报 A · 明线</a:t>
            </a:r>
            <a:endParaRPr sz="13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000" y="3780000"/>
            <a:ext cx="4938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业务价值：公司级工程知识库</a:t>
            </a:r>
            <a:endParaRPr sz="19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000" y="440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试点域内 AI 可读代码仓库（15-30 个仓）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000" y="474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架构评审、新人上手、跨域协作全面提效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0000" y="508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未来业务 Agent 舰队的知识地基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0000" y="542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填补行业空白：跨复杂多系统的工业实践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58000" y="3200000"/>
            <a:ext cx="5418000" cy="27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58000" y="3200000"/>
            <a:ext cx="5418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8000" y="3400000"/>
            <a:ext cx="30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回报 B · 暗线</a:t>
            </a:r>
            <a:endParaRPr sz="13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98000" y="3780000"/>
            <a:ext cx="4938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基础设施价值：御符接口级事实源</a:t>
            </a:r>
            <a:endParaRPr sz="19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8000" y="440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reference 类知识 → mcp_tool_registry 种子数据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98000" y="474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D5 授权上界生效路径打通（替代 rol 硬编码）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8000" y="508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authz.mode: shadow → enforce 的关键前置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98000" y="5420000"/>
            <a:ext cx="493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三平面信任链闭环 · Agent 舰队接入前提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一份工作，两个立项都想要的产出——这就是本次立项的战略杠杆。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1872000"/>
            <a:ext cx="2880000" cy="194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0" b="1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1000" b="1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0000" y="2592000"/>
            <a:ext cx="7200000" cy="936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方案与基础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6000" y="3600000"/>
            <a:ext cx="7900000" cy="50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已有基础 · 技术方案 · 首期试点 · 里程碑</a:t>
            </a:r>
            <a:endParaRPr sz="18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已有基础：本项目不是从零开始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三平面基础设施已上线 · 架构师 Agent 骨架已跑通 · 扩规模是加实例数，不是加复杂度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3584000" cy="18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3584000" cy="10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御符 Yufu · 身份平面</a:t>
            </a:r>
            <a:endParaRPr sz="15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000" y="23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已上线 · shadow 模式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000" y="2680000"/>
            <a:ext cx="3184000" cy="7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denial_id 拒绝驱动闭环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v2 密码学信封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sidecar 信任链已跑通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04000" y="1700000"/>
            <a:ext cx="3584000" cy="18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4000" y="1700000"/>
            <a:ext cx="3584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04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御衡 Yuheng · 治理平面</a:t>
            </a:r>
            <a:endParaRPr sz="15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04000" y="23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已上线 · 平台 + 端侧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4000" y="2680000"/>
            <a:ext cx="3184000" cy="7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EACP 协议规范 v1.0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32 张治理域数据表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D-001~D-017 技术债闭环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68000" y="1700000"/>
            <a:ext cx="3584000" cy="180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68000" y="1700000"/>
            <a:ext cx="3584000" cy="10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68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御驿 Yuyi · 通信平面</a:t>
            </a:r>
            <a:endParaRPr sz="15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8000" y="23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已上线 · Phase 1-4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68000" y="2680000"/>
            <a:ext cx="3184000" cy="7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7 个适配器已发货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Hub 管理台 10 页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社区 skill 审核链闭环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0000" y="3700000"/>
            <a:ext cx="11113200" cy="21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0000" y="3700000"/>
            <a:ext cx="111132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000" y="3900000"/>
            <a:ext cx="107532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digital-architect · 架构师 Agent 骨架已跑通</a:t>
            </a:r>
            <a:endParaRPr sz="17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0000" y="4500000"/>
            <a:ext cx="26133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阶段 1-4 全落定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0000" y="4920000"/>
            <a:ext cx="26133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知识地基 · 自举首跑 · 插件 v0.3.1 · 首批 service-knowledge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33300" y="4500000"/>
            <a:ext cx="26133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41 条知识 · 52 篇设计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44545" y="4919980"/>
            <a:ext cx="2783205" cy="8001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五类目录</a:t>
            </a:r>
            <a:r>
              <a:rPr lang="en-US"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meta/principle/scenario/practice/reference</a:t>
            </a:r>
            <a:r>
              <a:rPr lang="en-US"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已跑通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6600" y="4500000"/>
            <a:ext cx="26133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architect_lint R1-R9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6600" y="4920000"/>
            <a:ext cx="26133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GitHub Actions CI 每次提交跑，"知识与代码一样有 CI"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59900" y="4500000"/>
            <a:ext cx="26133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observatory 三期完成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59900" y="4920000"/>
            <a:ext cx="26133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8 视图 · 御符 token 受保护 · governor 远端执行 · 哈希链封印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0000" y="605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本项目申请的不是"从零建设的研发资源"，是"扩规模的运营资源"——杠杆已经建好。</a:t>
            </a:r>
            <a:endParaRPr sz="1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技术方案：多实例架构师 Agent 编排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一域一实例 · 白名单挂载 · observatory 集中治理 · 御符接口清单同步管道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0000" y="1700000"/>
            <a:ext cx="3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架构师 Agent 实例（按业务域拆分）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0000" y="2180000"/>
            <a:ext cx="3400000" cy="56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0000" y="2180000"/>
            <a:ext cx="80000" cy="56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0000" y="2260000"/>
            <a:ext cx="12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实例 A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0000" y="2260000"/>
            <a:ext cx="1820000" cy="4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业务域 A（15-30 仓）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0000" y="2800000"/>
            <a:ext cx="3400000" cy="56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0000" y="2800000"/>
            <a:ext cx="80000" cy="56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0000" y="2880000"/>
            <a:ext cx="12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实例 B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40000" y="2880000"/>
            <a:ext cx="1820000" cy="4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业务域 B（滚动扩展）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0000" y="3420000"/>
            <a:ext cx="3400000" cy="56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0000" y="3420000"/>
            <a:ext cx="80000" cy="56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0000" y="3500000"/>
            <a:ext cx="12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实例 C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40000" y="3500000"/>
            <a:ext cx="1820000" cy="4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业务域 C（滚动扩展）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0000" y="4040000"/>
            <a:ext cx="3400000" cy="56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0000" y="4040000"/>
            <a:ext cx="80000" cy="56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0000" y="4120000"/>
            <a:ext cx="12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40000" y="4120000"/>
            <a:ext cx="1820000" cy="4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按需增加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00000" y="2180000"/>
            <a:ext cx="3800000" cy="10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00000" y="2280000"/>
            <a:ext cx="3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御驿 Hub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0000" y="2680000"/>
            <a:ext cx="3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多实例协同通信</a:t>
            </a:r>
            <a:endParaRPr sz="11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00000" y="3300000"/>
            <a:ext cx="3800000" cy="1400000"/>
          </a:xfrm>
          <a:prstGeom prst="roundRect">
            <a:avLst>
              <a:gd name="adj" fmla="val 6000"/>
            </a:avLst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00000" y="3420000"/>
            <a:ext cx="3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observatory 治理面板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00000" y="3820000"/>
            <a:ext cx="38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8 视图看板</a:t>
            </a:r>
            <a:endParaRPr sz="11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御符 token 受保护模式</a:t>
            </a:r>
            <a:endParaRPr sz="11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governor 远端执行 · 哈希链封印</a:t>
            </a:r>
            <a:endParaRPr sz="11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00000" y="2180000"/>
            <a:ext cx="3460000" cy="13000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00000" y="2300000"/>
            <a:ext cx="34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公司级知识仓库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00000" y="2700000"/>
            <a:ext cx="3460000" cy="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EAF3EA"/>
                </a:solidFill>
                <a:latin typeface="微软雅黑" panose="020B0503020204020204" charset="-122"/>
                <a:ea typeface="微软雅黑" panose="020B0503020204020204" charset="-122"/>
              </a:rPr>
              <a:t>五类结构化知识</a:t>
            </a:r>
            <a:endParaRPr sz="1100" b="0">
              <a:solidFill>
                <a:srgbClr val="EAF3E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EAF3EA"/>
                </a:solidFill>
                <a:latin typeface="微软雅黑" panose="020B0503020204020204" charset="-122"/>
                <a:ea typeface="微软雅黑" panose="020B0503020204020204" charset="-122"/>
              </a:rPr>
              <a:t>architect_lint R1-R9 CI 守结构底线</a:t>
            </a:r>
            <a:endParaRPr sz="1100" b="0">
              <a:solidFill>
                <a:srgbClr val="EAF3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00000" y="3600000"/>
            <a:ext cx="3460000" cy="110000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00000" y="3700000"/>
            <a:ext cx="346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御符接口清单同步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00000" y="4100000"/>
            <a:ext cx="3460000" cy="6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FAEEEC"/>
                </a:solidFill>
                <a:latin typeface="微软雅黑" panose="020B0503020204020204" charset="-122"/>
                <a:ea typeface="微软雅黑" panose="020B0503020204020204" charset="-122"/>
              </a:rPr>
              <a:t>reference 类知识 →</a:t>
            </a:r>
            <a:endParaRPr sz="1100" b="0">
              <a:solidFill>
                <a:srgbClr val="FAEE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FAEEEC"/>
                </a:solidFill>
                <a:latin typeface="微软雅黑" panose="020B0503020204020204" charset="-122"/>
                <a:ea typeface="微软雅黑" panose="020B0503020204020204" charset="-122"/>
              </a:rPr>
              <a:t>mcp_tool_registry 种子</a:t>
            </a:r>
            <a:endParaRPr sz="1100" b="0">
              <a:solidFill>
                <a:srgbClr val="FAEE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0000" y="500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五条关键机制（已在 digital-architect 跑通，扩规模不改）</a:t>
            </a:r>
            <a:endParaRPr sz="13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39750" y="5400040"/>
            <a:ext cx="2158365" cy="8763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00" y="5480000"/>
            <a:ext cx="195864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一域一实例</a:t>
            </a:r>
            <a:endParaRPr sz="1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00" y="5780000"/>
            <a:ext cx="195864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避免上帝 Agent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78760" y="5400040"/>
            <a:ext cx="2158365" cy="8763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878640" y="5480000"/>
            <a:ext cx="195864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白名单挂载</a:t>
            </a:r>
            <a:endParaRPr sz="1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78640" y="5780000"/>
            <a:ext cx="195864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仓库只读，唯一写通道 architect-knowledge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017135" y="5400040"/>
            <a:ext cx="2158365" cy="8763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17280" y="5480000"/>
            <a:ext cx="195864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六类决策门</a:t>
            </a:r>
            <a:endParaRPr sz="1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17280" y="5780000"/>
            <a:ext cx="195864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Unknown/Conflict/取舍/跨团队/合规/高风险 → 主人确认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56145" y="5400040"/>
            <a:ext cx="2158365" cy="8763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55920" y="5480000"/>
            <a:ext cx="195864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observatory 治理</a:t>
            </a:r>
            <a:endParaRPr sz="1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55920" y="5780000"/>
            <a:ext cx="195864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多实例集中面板 · 御符 token 受保护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494520" y="5400040"/>
            <a:ext cx="2158365" cy="8763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594560" y="5480000"/>
            <a:ext cx="195864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CI 守结构</a:t>
            </a:r>
            <a:endParaRPr sz="12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594560" y="5780000"/>
            <a:ext cx="195864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architect_lint R1-R9 每次提交跑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首期试点：范围、验收、明确不做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首期不追求覆盖 200+ 仓——用一个业务域跑通方法论，再滚动扩展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3584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试点域选择标准</a:t>
            </a:r>
            <a:endParaRPr sz="17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000" y="250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业务代表性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0000" y="2820000"/>
            <a:ext cx="302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反映公司典型技术栈与架构风格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000" y="33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仓库规模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0000" y="3640000"/>
            <a:ext cx="302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首期 8-15 个仓（最小可验证规模）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000" y="414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团队配合度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0000" y="4460000"/>
            <a:ext cx="302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愿意投入接口人协同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000" y="496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御符接入优先级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5280000"/>
            <a:ext cx="302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域内接口有明确授权治理需求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04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04000" y="1700000"/>
            <a:ext cx="3584000" cy="10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04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首期验收标准 A1-A6</a:t>
            </a:r>
            <a:endParaRPr sz="17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04000" y="252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04000" y="252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4000" y="250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试点域 8-15 仓知识蒸馏完成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04000" y="306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04000" y="306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4000" y="304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五类条目全绿（architect_lint CI 通过）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04000" y="360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04000" y="360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4000" y="358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observatory 支持 3+ 实例并行治理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04000" y="414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04000" y="414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4000" y="412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御符 mcp_tool_registry 自动同步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04000" y="468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04000" y="468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A5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4000" y="466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域内 shadow→enforce 切换（1-2 个接口组）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04000" y="522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04000" y="522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A6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4000" y="520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方法论文档 + 滚动扩展 SOP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68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68000" y="1700000"/>
            <a:ext cx="3584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68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明确不做 N1-N5</a:t>
            </a:r>
            <a:endParaRPr sz="17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68000" y="252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68000" y="252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88000" y="250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首期不追求覆盖全部 200+ 仓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268000" y="306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68000" y="306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88000" y="304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不重造 architect-core / observatory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268000" y="360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68000" y="360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88000" y="358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不做通用代码搜索（区别 grep）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268000" y="414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68000" y="414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88000" y="412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不做向量库 / RAG（方法论已否决）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68000" y="468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268000" y="468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N5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788000" y="466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不改造业务代码（只读挂载）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268000" y="5220000"/>
            <a:ext cx="460000" cy="32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68000" y="5220000"/>
            <a:ext cx="46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N6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88000" y="5200000"/>
            <a:ext cx="26640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首期不追求试点域全覆盖（8-15 仓起步）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首期是「验证方法论 + 产出双回报样板」，不是「一次性覆盖全公司」——这是可控风险的关键。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里程碑：3 个月分三段，每段独立可验收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每月一个可验收节点 · 可随时暂停、可继续、可调整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3584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0000" y="1940000"/>
            <a:ext cx="12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M1</a:t>
            </a:r>
            <a:endParaRPr sz="4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000" y="2780000"/>
            <a:ext cx="310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第 1 月</a:t>
            </a:r>
            <a:endParaRPr sz="13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000" y="3160000"/>
            <a:ext cx="310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试点启动</a:t>
            </a:r>
            <a:endParaRPr sz="19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0000" y="372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选定试点域内 8-15 仓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000" y="408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部署 2-3 个 Agent 实例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000" y="444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observatory 独立部署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000" y="480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御符接口同步管道设计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0000" y="5120000"/>
            <a:ext cx="3104000" cy="620000"/>
          </a:xfrm>
          <a:prstGeom prst="roundRect">
            <a:avLst>
              <a:gd name="adj" fmla="val 10000"/>
            </a:avLst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0000" y="5140000"/>
            <a:ext cx="2904000" cy="6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验收：多实例并行运行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observatory 治理面板可用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04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04000" y="1700000"/>
            <a:ext cx="3584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44000" y="1940000"/>
            <a:ext cx="12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M2</a:t>
            </a:r>
            <a:endParaRPr sz="4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44000" y="2780000"/>
            <a:ext cx="310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第 2 月</a:t>
            </a:r>
            <a:endParaRPr sz="13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44000" y="3160000"/>
            <a:ext cx="310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知识蒸馏</a:t>
            </a:r>
            <a:endParaRPr sz="19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4000" y="372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8-15 仓知识蒸馏完成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4000" y="408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五类条目入库（CI 全绿）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44000" y="444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六类决策门跑通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000" y="480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主人确认流程闭环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44000" y="5120000"/>
            <a:ext cx="3104000" cy="620000"/>
          </a:xfrm>
          <a:prstGeom prst="roundRect">
            <a:avLst>
              <a:gd name="adj" fmla="val 10000"/>
            </a:avLst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644000" y="5140000"/>
            <a:ext cx="2904000" cy="6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验收：A1 + A2 + A3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observatory 支持 3+ 实例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68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68000" y="1700000"/>
            <a:ext cx="3584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08000" y="1940000"/>
            <a:ext cx="12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M3</a:t>
            </a:r>
            <a:endParaRPr sz="44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08000" y="2780000"/>
            <a:ext cx="310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第 3 月</a:t>
            </a:r>
            <a:endParaRPr sz="13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08000" y="3160000"/>
            <a:ext cx="3104000" cy="4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御符同步 + 首期验收</a:t>
            </a:r>
            <a:endParaRPr sz="19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08000" y="372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reference → mcp_tool_registry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08000" y="408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域内 shadow→enforce 试点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08000" y="444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首期成果汇报 + 方法论定案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000" y="4800000"/>
            <a:ext cx="310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滚动扩展 SOP + 下一域准备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308000" y="5120000"/>
            <a:ext cx="3104000" cy="6200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08000" y="5140000"/>
            <a:ext cx="2904000" cy="6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验收：A4 + A5 + A6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决策者批准第二期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M3 是双重回报首次同时落地的关键节点——知识仓库 + 御符 enforce 试点 + 首期验收三合一交付。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1872000"/>
            <a:ext cx="2880000" cy="194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0" b="1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1000" b="1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0000" y="2592000"/>
            <a:ext cx="7200000" cy="936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资源与决策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6000" y="3600000"/>
            <a:ext cx="7900000" cy="504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资源需求 · 三层回报 · 风险缓解 · 滚动扩展 · 决策请求</a:t>
            </a:r>
            <a:endParaRPr sz="18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资源需求：最小试点盘子，杠杆已建好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2-3 人 × 3 个月 · 基础设施复用 · 关键前提不新增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5418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5418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0000" y="19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人力配置 · 2-3 FTE × 3 月</a:t>
            </a:r>
            <a:endParaRPr sz="17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000" y="2500000"/>
            <a:ext cx="2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项目负责人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0000" y="2500000"/>
            <a:ext cx="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× 1</a:t>
            </a:r>
            <a:endParaRPr sz="1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0000" y="2920000"/>
            <a:ext cx="4938000" cy="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架构师 Agent 方法论 owner · 决策门运营 · 全程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000" y="3620000"/>
            <a:ext cx="2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平台/知识工程师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40000" y="3620000"/>
            <a:ext cx="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× 1-2</a:t>
            </a:r>
            <a:endParaRPr sz="1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000" y="4040000"/>
            <a:ext cx="4938000" cy="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observatory 独立部署 · Hub 扩容 · 御符接口同步管道 · 试点域知识蒸馏（复合角色）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000" y="4740000"/>
            <a:ext cx="2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御符接口人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40000" y="4740000"/>
            <a:ext cx="8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× 0.5</a:t>
            </a:r>
            <a:endParaRPr sz="1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0000" y="5160000"/>
            <a:ext cx="4938000" cy="7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enforce 切换 · mcp_tool_registry 改造（兼职）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58000" y="1700000"/>
            <a:ext cx="5418000" cy="42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58000" y="1700000"/>
            <a:ext cx="5418000" cy="10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8000" y="19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基础设施与预算</a:t>
            </a:r>
            <a:endParaRPr sz="17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98000" y="2500000"/>
            <a:ext cx="493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Hub 扩容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8000" y="2840000"/>
            <a:ext cx="475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支撑 3+ 架构师 Agent 实例 + 现有适配器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98000" y="3080300"/>
            <a:ext cx="493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observatory 独立部署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8000" y="3420300"/>
            <a:ext cx="475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利旧</a:t>
            </a:r>
            <a:endParaRPr lang="zh-CN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98000" y="3692350"/>
            <a:ext cx="493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LLM token 预算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78000" y="4032350"/>
            <a:ext cx="475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2-3 个实例 × 3 月的蒸馏与决策门推理消耗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8000" y="4348850"/>
            <a:ext cx="493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知识仓库托管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78000" y="4688850"/>
            <a:ext cx="4758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可复用现有 Gitea（无需新增）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98000" y="5100000"/>
            <a:ext cx="4938000" cy="62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8000" y="5160000"/>
            <a:ext cx="4738000" cy="5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关键前提（不新增）：三平面已上线 · architect-core 已跑通 · observatory Model B 已就绪</a:t>
            </a:r>
            <a:endParaRPr sz="12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本项目资源盘子最小化，因为杠杆已经建好——申请的是"验证方法论的启动资源"，不是"从零建设的研发资源"。</a:t>
            </a:r>
            <a:endParaRPr sz="14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收益评估：业务 · 安全 · 战略三层回报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首期 3 个月即可交付前两层，战略层在滚动扩展中逐步兑现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3584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业务侧 · 明线</a:t>
            </a:r>
            <a:endParaRPr sz="17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000" y="2340000"/>
            <a:ext cx="318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首期即可交付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000" y="278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AI 可读代码仓库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000" y="310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试点域 8-15 个仓全覆盖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000" y="356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架构评审提效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000" y="388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预估 30%+（自举首跑数据）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000" y="434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新人上手周期缩短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0000" y="466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预估 40%+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000" y="51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跨域协作成本降低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0000" y="544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统一术语与契约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04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04000" y="1700000"/>
            <a:ext cx="3584000" cy="100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04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安全侧 · 暗线</a:t>
            </a:r>
            <a:endParaRPr sz="17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4000" y="2340000"/>
            <a:ext cx="318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首期即可交付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04000" y="278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御符接口清单自动化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64000" y="310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mcp_tool_registry 首次自动种子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4000" y="356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D5 授权上界生效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4000" y="388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rol 硬编码路径打通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4000" y="434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shadow → enforce 切换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4000" y="466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域内首次试点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04000" y="51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三平面信任链闭环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4000" y="544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Agent 舰队接入前置就位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68000" y="1700000"/>
            <a:ext cx="3584000" cy="420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68000" y="1700000"/>
            <a:ext cx="3584000" cy="10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68000" y="1900000"/>
            <a:ext cx="3184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战略侧 · 长期</a:t>
            </a:r>
            <a:endParaRPr sz="17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68000" y="2340000"/>
            <a:ext cx="3184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滚动扩展中兑现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68000" y="278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业务 Agent 舰队地基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28000" y="310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财务/HR/客服/风控/数据接入前提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68000" y="356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行业空白填补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28000" y="388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跨复杂多系统的架构师 Agent 实践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68000" y="434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方法论对外输出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28000" y="466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技术白皮书 · 可开源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68000" y="5120000"/>
            <a:ext cx="3184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AI Friendly 架构转型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28000" y="5440000"/>
            <a:ext cx="3024000" cy="3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公司级转型的第一个支点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一次投入，三层回报——业务提效、安全闭环、战略支点。</a:t>
            </a:r>
            <a:endParaRPr sz="1400" b="1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风险与缓解：七项风险，均有明确路径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最高风险项（R3 / R6 / R7）都在试点域内闭环，不外溢到公司其他系统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60000" y="18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0000" y="18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0000" y="17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试点域团队配合度不足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0000" y="20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影响：中</a:t>
            </a:r>
            <a:endParaRPr sz="1000" b="1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0000" y="17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立项时明确接口人机制，把配合度作为试点域选择标准之一（见 P10）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0000" y="23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000" y="24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0000" y="24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40000" y="23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多实例协同复杂度超预期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0000" y="26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影响：中</a:t>
            </a:r>
            <a:endParaRPr sz="1000" b="1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0000" y="23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observatory Model B 独立部署方案已就绪，多实例治理面板已有雏形；M1 阶段小规模验证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0000" y="29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60000" y="30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0000" y="30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40000" y="29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御符接口清单质量不足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40000" y="32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影响：高</a:t>
            </a:r>
            <a:endParaRPr sz="1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0000" y="29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reference 类知识由 architect_lint R1-R9 CI 强制守结构；接口清单与 route_policy 双向核对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0000" y="35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60000" y="36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000" y="36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40000" y="35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知识漂移（历史决策被覆盖）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40000" y="38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影响：中</a:t>
            </a:r>
            <a:endParaRPr sz="1000" b="1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00000" y="35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knowledge-drift-cases 已沉淀六案例；"先修方案再回写知识"四步机制已跑通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0000" y="41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60000" y="42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0000" y="42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40000" y="41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LLM token 成本超预算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40000" y="44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影响：低</a:t>
            </a:r>
            <a:endParaRPr sz="10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0000" y="41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多实例按域拆分，每实例上下文有限；渐进披露四层已跑通；observatory 已有成本视图埋点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0000" y="47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60000" y="48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0000" y="48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R6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40000" y="47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shadow → enforce 切换失败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40000" y="50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影响：高</a:t>
            </a:r>
            <a:endParaRPr sz="1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00000" y="47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M3 阶段仅在试点域 1-2 个接口组内切换；denial_id 兜底；可随时回退 shadow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40000" y="5300000"/>
            <a:ext cx="11113200" cy="570000"/>
          </a:xfrm>
          <a:prstGeom prst="roundRect">
            <a:avLst>
              <a:gd name="adj" fmla="val 10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60000" y="5400000"/>
            <a:ext cx="700000" cy="360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0000" y="5400000"/>
            <a:ext cx="700000" cy="3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R7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40000" y="5360000"/>
            <a:ext cx="5800000" cy="2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3 个月工期紧张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40000" y="5620000"/>
            <a:ext cx="5800000" cy="2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影响：高</a:t>
            </a:r>
            <a:endParaRPr sz="1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400000" y="5360000"/>
            <a:ext cx="4200000" cy="45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范围已收敛到 8-15 仓（原计划一半）；里程碑按月密集验收；M2 末若偏差可决策延期或再收敛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0000" y="6200000"/>
            <a:ext cx="11113200" cy="44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所有风险均有明确缓解路径——最高风险项（R3 / R6 / R7）都在试点域内闭环，不外溢。</a:t>
            </a:r>
            <a:endParaRPr sz="14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滚动扩展路径：9-12 个月覆盖 200+ 仓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首期成功 → 季度滚动 → 每期独立决策 → 可随时收敛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000" y="2400000"/>
            <a:ext cx="10500000" cy="40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76000" y="2300000"/>
            <a:ext cx="240000" cy="240000"/>
          </a:xfrm>
          <a:prstGeom prst="ellipse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6000" y="2700000"/>
            <a:ext cx="2100000" cy="24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6000" y="284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首期</a:t>
            </a:r>
            <a:endParaRPr sz="15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6000" y="32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Q4 2026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Q1 2027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6000" y="37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1 个业务域内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8-15 仓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6000" y="420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2-3 人 × 3 月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6000" y="458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本次申请</a:t>
            </a:r>
            <a:endParaRPr sz="1000" b="0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776000" y="2300000"/>
            <a:ext cx="240000" cy="2400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846000" y="2700000"/>
            <a:ext cx="2100000" cy="24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46000" y="284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第二期</a:t>
            </a:r>
            <a:endParaRPr sz="15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6000" y="32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Q2 2027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46000" y="37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+2 个业务域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累计 30-50 仓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46000" y="420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+2-3 人 × 3 月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46000" y="458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首期验收后启动</a:t>
            </a:r>
            <a:endParaRPr sz="1000" b="0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976000" y="2300000"/>
            <a:ext cx="240000" cy="2400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46000" y="2700000"/>
            <a:ext cx="2100000" cy="24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46000" y="284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第三期</a:t>
            </a:r>
            <a:endParaRPr sz="15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6000" y="32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Q3 2027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46000" y="37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+3 个业务域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累计 60-100 仓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46000" y="420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+2-3 人 × 3 月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6000" y="458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第二期验收后启动</a:t>
            </a:r>
            <a:endParaRPr sz="1000" b="0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76000" y="2300000"/>
            <a:ext cx="240000" cy="2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246000" y="2700000"/>
            <a:ext cx="2100000" cy="240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46000" y="284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全域覆盖</a:t>
            </a:r>
            <a:endParaRPr sz="15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46000" y="32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Q4 2027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Q1 2028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46000" y="37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200+ 仓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全公司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46000" y="420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常态化运营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46000" y="458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方法论定型</a:t>
            </a:r>
            <a:endParaRPr sz="1000" b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376000" y="2300000"/>
            <a:ext cx="240000" cy="24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9446000" y="2700000"/>
            <a:ext cx="2100000" cy="2400000"/>
          </a:xfrm>
          <a:prstGeom prst="roundRect">
            <a:avLst>
              <a:gd name="adj" fmla="val 6000"/>
            </a:avLst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546000" y="284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御符全公司 enforce</a:t>
            </a:r>
            <a:endParaRPr sz="15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46000" y="32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Q2 2028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46000" y="3700000"/>
            <a:ext cx="1900000" cy="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信任链闭环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Agent 舰队接入</a:t>
            </a:r>
            <a:endParaRPr sz="1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546000" y="420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安全侧联合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546000" y="4580000"/>
            <a:ext cx="19000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战略回报兑现</a:t>
            </a:r>
            <a:endParaRPr sz="1000" b="0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0000" y="530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三个关键决策点</a:t>
            </a:r>
            <a:endParaRPr sz="13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0000" y="5700000"/>
            <a:ext cx="111132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首期验收后 → 决策是否启动第二期（本报告只申请首期资源）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0000" y="6020000"/>
            <a:ext cx="111132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每期验收后 → 决策下一期规模与节奏（可加速、可收敛、可暂停）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0000" y="6340000"/>
            <a:ext cx="111132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· 御符 enforce 全公司切换 → 需安全侧联合决策（本项目提供事实源，不代替决策）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0000" y="432000"/>
            <a:ext cx="11113200" cy="7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决策请求：批准首期试点</a:t>
            </a:r>
            <a:endParaRPr sz="2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1140000"/>
            <a:ext cx="1111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具体请求、决策时间窗、批准后的第一步动作</a:t>
            </a:r>
            <a:endParaRPr sz="13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0000" y="1700000"/>
            <a:ext cx="5418000" cy="4200000"/>
          </a:xfrm>
          <a:prstGeom prst="roundRect">
            <a:avLst>
              <a:gd name="adj" fmla="val 6000"/>
            </a:avLst>
          </a:prstGeom>
          <a:solidFill>
            <a:srgbClr val="E3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0000" y="1700000"/>
            <a:ext cx="5418000" cy="100000"/>
          </a:xfrm>
          <a:prstGeom prst="rect">
            <a:avLst/>
          </a:prstGeom>
          <a:solidFill>
            <a:srgbClr val="4A5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0000" y="19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A5899"/>
                </a:solidFill>
                <a:latin typeface="微软雅黑" panose="020B0503020204020204" charset="-122"/>
                <a:ea typeface="微软雅黑" panose="020B0503020204020204" charset="-122"/>
              </a:rPr>
              <a:t>请求批准</a:t>
            </a:r>
            <a:endParaRPr sz="1800" b="1">
              <a:solidFill>
                <a:srgbClr val="4A5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000" y="2500000"/>
            <a:ext cx="18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人力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40000" y="2500000"/>
            <a:ext cx="30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2-3 FTE × 3 个月的研发资源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0000" y="3180000"/>
            <a:ext cx="18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试点域选择权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0000" y="3180000"/>
            <a:ext cx="30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与业务方联合选定首个业务域内 8-15 仓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000" y="3860000"/>
            <a:ext cx="18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基础设施预算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0000" y="3860000"/>
            <a:ext cx="30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observatory 独立部署 + Hub 扩容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000" y="4540000"/>
            <a:ext cx="18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联合开发授权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0000" y="4540000"/>
            <a:ext cx="30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御符接口清单同步管道（与安全侧联合）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0000" y="5220000"/>
            <a:ext cx="18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· LLM token 预算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0000" y="5220000"/>
            <a:ext cx="307800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2-3 个实例 × 3 个月的蒸馏与推理消耗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58000" y="1700000"/>
            <a:ext cx="5418000" cy="18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58000" y="1700000"/>
            <a:ext cx="5418000" cy="100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98000" y="19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决策时间窗</a:t>
            </a:r>
            <a:endParaRPr sz="18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8000" y="2480000"/>
            <a:ext cx="14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T + 2 周</a:t>
            </a:r>
            <a:endParaRPr sz="13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58000" y="2480000"/>
            <a:ext cx="347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本报告提交后决策窗口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8000" y="2820000"/>
            <a:ext cx="14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T + 3 周</a:t>
            </a:r>
            <a:endParaRPr sz="13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58000" y="2820000"/>
            <a:ext cx="347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批准后启动 M1（试点域选定）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8000" y="3160000"/>
            <a:ext cx="1400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T + 3 月</a:t>
            </a:r>
            <a:endParaRPr sz="13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58000" y="3160000"/>
            <a:ext cx="3478000" cy="3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首期验收汇报 · 决策第二期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58000" y="3700000"/>
            <a:ext cx="5418000" cy="220000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58000" y="3700000"/>
            <a:ext cx="5418000" cy="100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98000" y="3900000"/>
            <a:ext cx="4938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C5F2D"/>
                </a:solidFill>
                <a:latin typeface="微软雅黑" panose="020B0503020204020204" charset="-122"/>
                <a:ea typeface="微软雅黑" panose="020B0503020204020204" charset="-122"/>
              </a:rPr>
              <a:t>批准后的第一步（3 周）</a:t>
            </a:r>
            <a:endParaRPr sz="1800" b="1">
              <a:solidFill>
                <a:srgbClr val="2C5F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398000" y="4480000"/>
            <a:ext cx="50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98000" y="4480000"/>
            <a:ext cx="50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58000" y="4460000"/>
            <a:ext cx="4378000" cy="4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项目章程签发 · 试点域候选清单产出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98000" y="5040000"/>
            <a:ext cx="50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98000" y="5040000"/>
            <a:ext cx="50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58000" y="5020000"/>
            <a:ext cx="4378000" cy="4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与业务方对齐 · 试点域选定 · 团队组建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98000" y="5600000"/>
            <a:ext cx="500000" cy="3200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98000" y="5600000"/>
            <a:ext cx="500000" cy="32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58000" y="5548250"/>
            <a:ext cx="4378000" cy="4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observatory 独立部署启动 · M1 kick-off · 首批实例部署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0000" y="6100000"/>
            <a:ext cx="11113200" cy="4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请求的不只是一个项目的资源，是公司 AI Friendly 架构转型的第一个支点。</a:t>
            </a:r>
            <a:endParaRPr sz="1400" b="1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20000" y="1570765"/>
            <a:ext cx="107532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让公司所有代码仓库——</a:t>
            </a:r>
            <a:endParaRPr sz="3200" b="1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2600000"/>
            <a:ext cx="10753200" cy="12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成为 AI 可理解、可推理、可验证的工程系统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0" y="4400000"/>
            <a:ext cx="3400000" cy="90000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0000" y="4540000"/>
            <a:ext cx="3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御符 · 拿到接口级事实源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4940000"/>
            <a:ext cx="34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发驾照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000" y="4400000"/>
            <a:ext cx="3400000" cy="90000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20000" y="4540000"/>
            <a:ext cx="3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御驿 · 承载多实例协同</a:t>
            </a:r>
            <a:endParaRPr sz="1500" b="1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0" y="4940000"/>
            <a:ext cx="34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E2761"/>
                </a:solidFill>
                <a:latin typeface="微软雅黑" panose="020B0503020204020204" charset="-122"/>
                <a:ea typeface="微软雅黑" panose="020B0503020204020204" charset="-122"/>
              </a:rPr>
              <a:t>修路</a:t>
            </a:r>
            <a:endParaRPr sz="1100" b="0">
              <a:solidFill>
                <a:srgbClr val="1E27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20000" y="4400000"/>
            <a:ext cx="3400000" cy="90000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20000" y="4540000"/>
            <a:ext cx="34000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御衡 · 治理每一次蒸馏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0000" y="4940000"/>
            <a:ext cx="3400000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定交规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0000" y="5800000"/>
            <a:ext cx="10753200" cy="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ADCFC"/>
                </a:solidFill>
                <a:latin typeface="微软雅黑" panose="020B0503020204020204" charset="-122"/>
                <a:ea typeface="微软雅黑" panose="020B0503020204020204" charset="-122"/>
              </a:rPr>
              <a:t>架构师 Agent 规模化项目 · 首期试点 · 立项申请</a:t>
            </a:r>
            <a:endParaRPr sz="1400" b="0">
              <a:solidFill>
                <a:srgbClr val="CADC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0000" y="6250000"/>
            <a:ext cx="10753200" cy="34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恳请批准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5973</Words>
  <Application>WPS 演示</Application>
  <PresentationFormat>On-screen Show (4:3)</PresentationFormat>
  <Paragraphs>734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甲子-洪岩</cp:lastModifiedBy>
  <cp:revision>11</cp:revision>
  <dcterms:created xsi:type="dcterms:W3CDTF">2013-01-27T09:14:00Z</dcterms:created>
  <dcterms:modified xsi:type="dcterms:W3CDTF">2026-09-20T06:48:05Z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AC80DC7484824D089F33F7739BD8479C_12</vt:lpwstr>
  </property>
  <property fmtid="{D5CDD505-2E9C-101B-9397-08002B2CF9AE}" pid="3" name="KSOProductBuildVer">
    <vt:lpwstr>2052-12.8.2.21177</vt:lpwstr>
  </property>
</Properties>
</file>